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Times New Roman" charset="1" panose="02020603050405020304"/>
      <p:regular r:id="rId24"/>
    </p:embeddedFont>
    <p:embeddedFont>
      <p:font typeface="Times New Roman Bold" charset="1" panose="02020803070505020304"/>
      <p:regular r:id="rId25"/>
    </p:embeddedFont>
    <p:embeddedFont>
      <p:font typeface="League Spartan" charset="1" panose="000008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2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29.pn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30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430183" y="-6461811"/>
            <a:ext cx="10994424" cy="109944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gradFill>
                <a:gsLst>
                  <a:gs pos="0">
                    <a:srgbClr val="0053F3">
                      <a:alpha val="12000"/>
                    </a:srgbClr>
                  </a:gs>
                  <a:gs pos="100000">
                    <a:srgbClr val="0B0088">
                      <a:alpha val="12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493153" y="4532613"/>
            <a:ext cx="10994424" cy="1099442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gradFill>
                <a:gsLst>
                  <a:gs pos="0">
                    <a:srgbClr val="0053F3">
                      <a:alpha val="12000"/>
                    </a:srgbClr>
                  </a:gs>
                  <a:gs pos="100000">
                    <a:srgbClr val="0B0088">
                      <a:alpha val="12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473252" y="2072146"/>
            <a:ext cx="10975311" cy="2283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1"/>
              </a:lnSpc>
            </a:pPr>
            <a:r>
              <a:rPr lang="en-US" sz="3350" spc="469">
                <a:solidFill>
                  <a:srgbClr val="0026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PHÂN TÍCH DỮ LIỆU BIẾN ĐỘNG GIÁ VÀNG TẠI VIỆT NAM (2021 - 2026) BẰNG CÔNG NGHỆ APACHE SPARK (PYSPARK).</a:t>
            </a:r>
          </a:p>
          <a:p>
            <a:pPr algn="ctr">
              <a:lnSpc>
                <a:spcPts val="4006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2083156" y="0"/>
            <a:ext cx="4651379" cy="3086824"/>
          </a:xfrm>
          <a:custGeom>
            <a:avLst/>
            <a:gdLst/>
            <a:ahLst/>
            <a:cxnLst/>
            <a:rect r="r" b="b" t="t" l="l"/>
            <a:pathLst>
              <a:path h="3086824" w="4651379">
                <a:moveTo>
                  <a:pt x="0" y="0"/>
                </a:moveTo>
                <a:lnTo>
                  <a:pt x="4651379" y="0"/>
                </a:lnTo>
                <a:lnTo>
                  <a:pt x="4651379" y="3086824"/>
                </a:lnTo>
                <a:lnTo>
                  <a:pt x="0" y="3086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338986" y="8043475"/>
            <a:ext cx="4651379" cy="3086824"/>
          </a:xfrm>
          <a:custGeom>
            <a:avLst/>
            <a:gdLst/>
            <a:ahLst/>
            <a:cxnLst/>
            <a:rect r="r" b="b" t="t" l="l"/>
            <a:pathLst>
              <a:path h="3086824" w="4651379">
                <a:moveTo>
                  <a:pt x="0" y="0"/>
                </a:moveTo>
                <a:lnTo>
                  <a:pt x="4651379" y="0"/>
                </a:lnTo>
                <a:lnTo>
                  <a:pt x="4651379" y="3086824"/>
                </a:lnTo>
                <a:lnTo>
                  <a:pt x="0" y="3086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-659147" y="9258300"/>
            <a:ext cx="8446777" cy="1543050"/>
            <a:chOff x="0" y="0"/>
            <a:chExt cx="2224665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24666" cy="406400"/>
            </a:xfrm>
            <a:custGeom>
              <a:avLst/>
              <a:gdLst/>
              <a:ahLst/>
              <a:cxnLst/>
              <a:rect r="r" b="b" t="t" l="l"/>
              <a:pathLst>
                <a:path h="406400" w="2224666">
                  <a:moveTo>
                    <a:pt x="46744" y="0"/>
                  </a:moveTo>
                  <a:lnTo>
                    <a:pt x="2177921" y="0"/>
                  </a:lnTo>
                  <a:cubicBezTo>
                    <a:pt x="2203737" y="0"/>
                    <a:pt x="2224666" y="20928"/>
                    <a:pt x="2224666" y="46744"/>
                  </a:cubicBezTo>
                  <a:lnTo>
                    <a:pt x="2224666" y="359656"/>
                  </a:lnTo>
                  <a:cubicBezTo>
                    <a:pt x="2224666" y="385472"/>
                    <a:pt x="2203737" y="406400"/>
                    <a:pt x="2177921" y="406400"/>
                  </a:cubicBezTo>
                  <a:lnTo>
                    <a:pt x="46744" y="406400"/>
                  </a:lnTo>
                  <a:cubicBezTo>
                    <a:pt x="20928" y="406400"/>
                    <a:pt x="0" y="385472"/>
                    <a:pt x="0" y="359656"/>
                  </a:cubicBezTo>
                  <a:lnTo>
                    <a:pt x="0" y="46744"/>
                  </a:lnTo>
                  <a:cubicBezTo>
                    <a:pt x="0" y="20928"/>
                    <a:pt x="20928" y="0"/>
                    <a:pt x="467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53F3">
                    <a:alpha val="100000"/>
                  </a:srgbClr>
                </a:gs>
                <a:gs pos="100000">
                  <a:srgbClr val="0B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224665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859842" y="-514350"/>
            <a:ext cx="8446777" cy="1543050"/>
            <a:chOff x="0" y="0"/>
            <a:chExt cx="2224665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24666" cy="406400"/>
            </a:xfrm>
            <a:custGeom>
              <a:avLst/>
              <a:gdLst/>
              <a:ahLst/>
              <a:cxnLst/>
              <a:rect r="r" b="b" t="t" l="l"/>
              <a:pathLst>
                <a:path h="406400" w="2224666">
                  <a:moveTo>
                    <a:pt x="46744" y="0"/>
                  </a:moveTo>
                  <a:lnTo>
                    <a:pt x="2177921" y="0"/>
                  </a:lnTo>
                  <a:cubicBezTo>
                    <a:pt x="2203737" y="0"/>
                    <a:pt x="2224666" y="20928"/>
                    <a:pt x="2224666" y="46744"/>
                  </a:cubicBezTo>
                  <a:lnTo>
                    <a:pt x="2224666" y="359656"/>
                  </a:lnTo>
                  <a:cubicBezTo>
                    <a:pt x="2224666" y="385472"/>
                    <a:pt x="2203737" y="406400"/>
                    <a:pt x="2177921" y="406400"/>
                  </a:cubicBezTo>
                  <a:lnTo>
                    <a:pt x="46744" y="406400"/>
                  </a:lnTo>
                  <a:cubicBezTo>
                    <a:pt x="20928" y="406400"/>
                    <a:pt x="0" y="385472"/>
                    <a:pt x="0" y="359656"/>
                  </a:cubicBezTo>
                  <a:lnTo>
                    <a:pt x="0" y="46744"/>
                  </a:lnTo>
                  <a:cubicBezTo>
                    <a:pt x="0" y="20928"/>
                    <a:pt x="20928" y="0"/>
                    <a:pt x="467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53F3">
                    <a:alpha val="100000"/>
                  </a:srgbClr>
                </a:gs>
                <a:gs pos="100000">
                  <a:srgbClr val="0B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224665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3849819" y="1065044"/>
            <a:ext cx="11874103" cy="915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91"/>
              </a:lnSpc>
              <a:spcBef>
                <a:spcPct val="0"/>
              </a:spcBef>
            </a:pPr>
            <a:r>
              <a:rPr lang="en-US" b="true" sz="5208" spc="729">
                <a:solidFill>
                  <a:srgbClr val="0026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BÀI THUYẾT TRÌNH NHÓM 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849819" y="4864997"/>
            <a:ext cx="10586267" cy="65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2"/>
              </a:lnSpc>
              <a:spcBef>
                <a:spcPct val="0"/>
              </a:spcBef>
            </a:pPr>
            <a:r>
              <a:rPr lang="en-US" sz="3701" spc="207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Thành viên nhóm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71152" y="5382776"/>
            <a:ext cx="8754843" cy="3026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6021" indent="-328011" lvl="1">
              <a:lnSpc>
                <a:spcPts val="6137"/>
              </a:lnSpc>
              <a:buFont typeface="Arial"/>
              <a:buChar char="•"/>
            </a:pPr>
            <a:r>
              <a:rPr lang="en-US" sz="3038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Đặng Đình Đạt (Trưởng nhóm)</a:t>
            </a:r>
          </a:p>
          <a:p>
            <a:pPr algn="l" marL="656021" indent="-328011" lvl="1">
              <a:lnSpc>
                <a:spcPts val="6137"/>
              </a:lnSpc>
              <a:buFont typeface="Arial"/>
              <a:buChar char="•"/>
            </a:pPr>
            <a:r>
              <a:rPr lang="en-US" sz="3038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Hoàng Đức Hội (Thành viên)</a:t>
            </a:r>
          </a:p>
          <a:p>
            <a:pPr algn="l" marL="656021" indent="-328011" lvl="1">
              <a:lnSpc>
                <a:spcPts val="6137"/>
              </a:lnSpc>
              <a:buFont typeface="Arial"/>
              <a:buChar char="•"/>
            </a:pPr>
            <a:r>
              <a:rPr lang="en-US" sz="3038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Phạm Khắc Linh (Thành viên)</a:t>
            </a:r>
          </a:p>
          <a:p>
            <a:pPr algn="l" marL="656021" indent="-328011" lvl="1">
              <a:lnSpc>
                <a:spcPts val="6137"/>
              </a:lnSpc>
              <a:buFont typeface="Arial"/>
              <a:buChar char="•"/>
            </a:pPr>
            <a:r>
              <a:rPr lang="en-US" sz="3038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Tuấn Anh (Thành viên)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35520" y="5363726"/>
            <a:ext cx="7033305" cy="2341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1394" indent="-330697" lvl="1">
              <a:lnSpc>
                <a:spcPts val="6310"/>
              </a:lnSpc>
              <a:buFont typeface="Arial"/>
              <a:buChar char="•"/>
            </a:pPr>
            <a:r>
              <a:rPr lang="en-US" sz="3063" spc="17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Hầu Thị Thanh Huyền (thành viên)</a:t>
            </a:r>
          </a:p>
          <a:p>
            <a:pPr algn="l" marL="661394" indent="-330697" lvl="1">
              <a:lnSpc>
                <a:spcPts val="6310"/>
              </a:lnSpc>
              <a:buFont typeface="Arial"/>
              <a:buChar char="•"/>
            </a:pPr>
            <a:r>
              <a:rPr lang="en-US" sz="3063" spc="17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Hứa Thị Thanh Hiền (thành viên)</a:t>
            </a:r>
          </a:p>
          <a:p>
            <a:pPr algn="l" marL="661394" indent="-330697" lvl="1">
              <a:lnSpc>
                <a:spcPts val="6310"/>
              </a:lnSpc>
              <a:buFont typeface="Arial"/>
              <a:buChar char="•"/>
            </a:pPr>
            <a:r>
              <a:rPr lang="en-US" sz="3063" spc="171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Dương Thị Ly (thành viên)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016574" y="2114003"/>
            <a:ext cx="23030831" cy="2180017"/>
            <a:chOff x="0" y="0"/>
            <a:chExt cx="812800" cy="769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76937"/>
            </a:xfrm>
            <a:custGeom>
              <a:avLst/>
              <a:gdLst/>
              <a:ahLst/>
              <a:cxnLst/>
              <a:rect r="r" b="b" t="t" l="l"/>
              <a:pathLst>
                <a:path h="7693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6937"/>
                  </a:lnTo>
                  <a:lnTo>
                    <a:pt x="0" y="76937"/>
                  </a:lnTo>
                  <a:close/>
                </a:path>
              </a:pathLst>
            </a:custGeom>
            <a:gradFill rotWithShape="true">
              <a:gsLst>
                <a:gs pos="0">
                  <a:srgbClr val="0053F3">
                    <a:alpha val="100000"/>
                  </a:srgbClr>
                </a:gs>
                <a:gs pos="100000">
                  <a:srgbClr val="0B0088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115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000740" y="2612858"/>
            <a:ext cx="13540913" cy="1439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9"/>
              </a:lnSpc>
            </a:pPr>
            <a:r>
              <a:rPr lang="en-US" sz="1115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DỰ ÁN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3016574" y="9701660"/>
            <a:ext cx="23030831" cy="1108234"/>
            <a:chOff x="0" y="0"/>
            <a:chExt cx="812800" cy="39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39112"/>
            </a:xfrm>
            <a:custGeom>
              <a:avLst/>
              <a:gdLst/>
              <a:ahLst/>
              <a:cxnLst/>
              <a:rect r="r" b="b" t="t" l="l"/>
              <a:pathLst>
                <a:path h="391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9112"/>
                  </a:lnTo>
                  <a:lnTo>
                    <a:pt x="0" y="39112"/>
                  </a:lnTo>
                  <a:close/>
                </a:path>
              </a:pathLst>
            </a:custGeom>
            <a:gradFill rotWithShape="true">
              <a:gsLst>
                <a:gs pos="0">
                  <a:srgbClr val="0053F3">
                    <a:alpha val="100000"/>
                  </a:srgbClr>
                </a:gs>
                <a:gs pos="100000">
                  <a:srgbClr val="0B0088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77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3274414" y="-554117"/>
            <a:ext cx="23030831" cy="1108234"/>
            <a:chOff x="0" y="0"/>
            <a:chExt cx="812800" cy="391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39112"/>
            </a:xfrm>
            <a:custGeom>
              <a:avLst/>
              <a:gdLst/>
              <a:ahLst/>
              <a:cxnLst/>
              <a:rect r="r" b="b" t="t" l="l"/>
              <a:pathLst>
                <a:path h="391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9112"/>
                  </a:lnTo>
                  <a:lnTo>
                    <a:pt x="0" y="39112"/>
                  </a:lnTo>
                  <a:close/>
                </a:path>
              </a:pathLst>
            </a:custGeom>
            <a:gradFill rotWithShape="true">
              <a:gsLst>
                <a:gs pos="0">
                  <a:srgbClr val="0053F3">
                    <a:alpha val="100000"/>
                  </a:srgbClr>
                </a:gs>
                <a:gs pos="100000">
                  <a:srgbClr val="0B0088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12800" cy="77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0" y="4615656"/>
            <a:ext cx="17842577" cy="245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5"/>
              </a:lnSpc>
              <a:spcBef>
                <a:spcPct val="0"/>
              </a:spcBef>
            </a:pPr>
            <a:r>
              <a:rPr lang="en-US" sz="4646">
                <a:solidFill>
                  <a:srgbClr val="04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Phân tích Dữ liệu Biến động Giá Vàng tại Việt Nam (2021 - 2026) bằng công nghệ Apache Spark (PySpark).</a:t>
            </a:r>
          </a:p>
          <a:p>
            <a:pPr algn="ctr">
              <a:lnSpc>
                <a:spcPts val="6505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4434065" y="6640780"/>
            <a:ext cx="8703469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 Youtube: https://youtu.be/uiCf-Wzj7do?si=RHPb-GC4a4ObTC27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50949" y="-1578895"/>
            <a:ext cx="3735531" cy="373553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78571" y="-504772"/>
            <a:ext cx="1286950" cy="128695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898480" y="8528274"/>
            <a:ext cx="3735531" cy="373553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9174715" y="8662062"/>
            <a:ext cx="8779632" cy="1733977"/>
          </a:xfrm>
          <a:custGeom>
            <a:avLst/>
            <a:gdLst/>
            <a:ahLst/>
            <a:cxnLst/>
            <a:rect r="r" b="b" t="t" l="l"/>
            <a:pathLst>
              <a:path h="1733977" w="8779632">
                <a:moveTo>
                  <a:pt x="0" y="0"/>
                </a:moveTo>
                <a:lnTo>
                  <a:pt x="8779632" y="0"/>
                </a:lnTo>
                <a:lnTo>
                  <a:pt x="8779632" y="1733977"/>
                </a:lnTo>
                <a:lnTo>
                  <a:pt x="0" y="1733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9174715" y="2457994"/>
            <a:ext cx="11448937" cy="6566972"/>
            <a:chOff x="0" y="0"/>
            <a:chExt cx="7981950" cy="45783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242424">
                <a:alpha val="71765"/>
              </a:srgbClr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>
                <a:alpha val="71765"/>
              </a:srgbClr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>
                <a:alpha val="71765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>
                <a:alpha val="71765"/>
              </a:srgbClr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3">
                <a:alphaModFix amt="72000"/>
              </a:blip>
              <a:stretch>
                <a:fillRect l="0" t="-3228" r="0" b="-3228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778571" y="800094"/>
            <a:ext cx="8203130" cy="1785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088"/>
              </a:lnSpc>
            </a:pPr>
            <a:r>
              <a:rPr lang="en-US" sz="5062" b="true">
                <a:solidFill>
                  <a:srgbClr val="031CD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1.GIỚI THIỆU ĐỀ TÀI</a:t>
            </a:r>
          </a:p>
          <a:p>
            <a:pPr algn="just">
              <a:lnSpc>
                <a:spcPts val="7088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517820" y="1791244"/>
            <a:ext cx="9298154" cy="7524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613"/>
              </a:lnSpc>
            </a:pPr>
            <a:r>
              <a:rPr lang="en-US" b="true" sz="5045">
                <a:solidFill>
                  <a:srgbClr val="031CD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1.1 Nhóm làm gì?</a:t>
            </a:r>
          </a:p>
          <a:p>
            <a:pPr algn="just">
              <a:lnSpc>
                <a:spcPts val="4543"/>
              </a:lnSpc>
            </a:pPr>
            <a:r>
              <a:rPr lang="en-US" sz="3245">
                <a:solidFill>
                  <a:srgbClr val="051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Tự động hóa thu thập và xử lý tập dữ liệu giá vàng bằng Apache Spark.</a:t>
            </a:r>
          </a:p>
          <a:p>
            <a:pPr algn="just">
              <a:lnSpc>
                <a:spcPts val="4543"/>
              </a:lnSpc>
            </a:pPr>
            <a:r>
              <a:rPr lang="en-US" sz="3245">
                <a:solidFill>
                  <a:srgbClr val="031C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US" b="true" sz="3245">
                <a:solidFill>
                  <a:srgbClr val="031CD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???</a:t>
            </a:r>
          </a:p>
          <a:p>
            <a:pPr algn="just" marL="700675" indent="-350338" lvl="1">
              <a:lnSpc>
                <a:spcPts val="4543"/>
              </a:lnSpc>
              <a:buAutoNum type="arabicPeriod" startAt="1"/>
            </a:pPr>
            <a:r>
              <a:rPr lang="en-US" sz="3245">
                <a:solidFill>
                  <a:srgbClr val="051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Tháng nào có giá trung bình cao/thấp nhất?</a:t>
            </a:r>
          </a:p>
          <a:p>
            <a:pPr algn="just" marL="700675" indent="-350338" lvl="1">
              <a:lnSpc>
                <a:spcPts val="4543"/>
              </a:lnSpc>
              <a:buAutoNum type="arabicPeriod" startAt="1"/>
            </a:pPr>
            <a:r>
              <a:rPr lang="en-US" sz="3245">
                <a:solidFill>
                  <a:srgbClr val="051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 3 ngày có giá lập Đỉnh và Đáy?</a:t>
            </a:r>
          </a:p>
          <a:p>
            <a:pPr algn="just" marL="700675" indent="-350338" lvl="1">
              <a:lnSpc>
                <a:spcPts val="4543"/>
              </a:lnSpc>
              <a:buAutoNum type="arabicPeriod" startAt="1"/>
            </a:pPr>
            <a:r>
              <a:rPr lang="en-US" sz="3245">
                <a:solidFill>
                  <a:srgbClr val="051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Năm nào có % tăng mạnh nhất?</a:t>
            </a:r>
          </a:p>
          <a:p>
            <a:pPr algn="just" marL="700675" indent="-350338" lvl="1">
              <a:lnSpc>
                <a:spcPts val="4543"/>
              </a:lnSpc>
              <a:buAutoNum type="arabicPeriod" startAt="1"/>
            </a:pPr>
            <a:r>
              <a:rPr lang="en-US" sz="3245">
                <a:solidFill>
                  <a:srgbClr val="051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Tháng nào biến động mạnh nhất (độ lệch chuẩn)?</a:t>
            </a:r>
          </a:p>
          <a:p>
            <a:pPr algn="just" marL="700675" indent="-350338" lvl="1">
              <a:lnSpc>
                <a:spcPts val="4543"/>
              </a:lnSpc>
              <a:buAutoNum type="arabicPeriod" startAt="1"/>
            </a:pPr>
            <a:r>
              <a:rPr lang="en-US" sz="3245">
                <a:solidFill>
                  <a:srgbClr val="051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Xu hướng giá theo từng Quý?</a:t>
            </a:r>
          </a:p>
          <a:p>
            <a:pPr algn="just" marL="700675" indent="-350338" lvl="1">
              <a:lnSpc>
                <a:spcPts val="4543"/>
              </a:lnSpc>
              <a:buAutoNum type="arabicPeriod" startAt="1"/>
            </a:pPr>
            <a:r>
              <a:rPr lang="en-US" sz="3245">
                <a:solidFill>
                  <a:srgbClr val="051D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Mức tăng trưởng tích lũy toàn kỳ là bao nhiêu?</a:t>
            </a:r>
          </a:p>
          <a:p>
            <a:pPr algn="just">
              <a:lnSpc>
                <a:spcPts val="4543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7700" y="3150594"/>
            <a:ext cx="1907646" cy="1370306"/>
          </a:xfrm>
          <a:custGeom>
            <a:avLst/>
            <a:gdLst/>
            <a:ahLst/>
            <a:cxnLst/>
            <a:rect r="r" b="b" t="t" l="l"/>
            <a:pathLst>
              <a:path h="1370306" w="1907646">
                <a:moveTo>
                  <a:pt x="0" y="0"/>
                </a:moveTo>
                <a:lnTo>
                  <a:pt x="1907646" y="0"/>
                </a:lnTo>
                <a:lnTo>
                  <a:pt x="1907646" y="1370306"/>
                </a:lnTo>
                <a:lnTo>
                  <a:pt x="0" y="13703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41" r="0" b="-484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7700" y="6546374"/>
            <a:ext cx="1907646" cy="1386842"/>
          </a:xfrm>
          <a:custGeom>
            <a:avLst/>
            <a:gdLst/>
            <a:ahLst/>
            <a:cxnLst/>
            <a:rect r="r" b="b" t="t" l="l"/>
            <a:pathLst>
              <a:path h="1386842" w="1907646">
                <a:moveTo>
                  <a:pt x="0" y="0"/>
                </a:moveTo>
                <a:lnTo>
                  <a:pt x="1907646" y="0"/>
                </a:lnTo>
                <a:lnTo>
                  <a:pt x="1907646" y="1386841"/>
                </a:lnTo>
                <a:lnTo>
                  <a:pt x="0" y="13868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5063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659958" y="2034851"/>
            <a:ext cx="10153548" cy="7691290"/>
          </a:xfrm>
          <a:custGeom>
            <a:avLst/>
            <a:gdLst/>
            <a:ahLst/>
            <a:cxnLst/>
            <a:rect r="r" b="b" t="t" l="l"/>
            <a:pathLst>
              <a:path h="7691290" w="10153548">
                <a:moveTo>
                  <a:pt x="0" y="0"/>
                </a:moveTo>
                <a:lnTo>
                  <a:pt x="10153548" y="0"/>
                </a:lnTo>
                <a:lnTo>
                  <a:pt x="10153548" y="7691289"/>
                </a:lnTo>
                <a:lnTo>
                  <a:pt x="0" y="7691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887" t="0" r="-16887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308615" y="2832043"/>
            <a:ext cx="6978702" cy="2860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56"/>
              </a:lnSpc>
              <a:spcBef>
                <a:spcPct val="0"/>
              </a:spcBef>
            </a:pPr>
            <a:r>
              <a:rPr lang="en-US" sz="3254">
                <a:solidFill>
                  <a:srgbClr val="3036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Mục tiêu là ứng dụng thực tế kiến thức Big Data, xử lý song song và PySpark để kiểm chứng khả năng của Spark với dữ liệu theo thời gian.</a:t>
            </a:r>
          </a:p>
          <a:p>
            <a:pPr algn="just">
              <a:lnSpc>
                <a:spcPts val="4556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308615" y="6387276"/>
            <a:ext cx="6978702" cy="287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04"/>
              </a:lnSpc>
            </a:pPr>
            <a:r>
              <a:rPr lang="en-US" sz="3217">
                <a:solidFill>
                  <a:srgbClr val="3036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Mục tiêu là tìm ra xu hướng, tính mùa vụ, mức độ biến động và hiệu suất sinh lời của vàng tại thị trường Việt Nam.</a:t>
            </a:r>
          </a:p>
          <a:p>
            <a:pPr algn="just">
              <a:lnSpc>
                <a:spcPts val="4504"/>
              </a:lnSpc>
            </a:pPr>
          </a:p>
          <a:p>
            <a:pPr algn="just">
              <a:lnSpc>
                <a:spcPts val="4504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862681" y="4570885"/>
            <a:ext cx="1477685" cy="572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9"/>
              </a:lnSpc>
              <a:spcBef>
                <a:spcPct val="0"/>
              </a:spcBef>
            </a:pPr>
            <a:r>
              <a:rPr lang="en-US" sz="30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Kỹ Thuật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8475" y="8152290"/>
            <a:ext cx="1477685" cy="572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9"/>
              </a:lnSpc>
              <a:spcBef>
                <a:spcPct val="0"/>
              </a:spcBef>
            </a:pPr>
            <a:r>
              <a:rPr lang="en-US" sz="30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Tế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923903" y="563976"/>
            <a:ext cx="8056575" cy="209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44"/>
              </a:lnSpc>
              <a:spcBef>
                <a:spcPct val="0"/>
              </a:spcBef>
            </a:pPr>
            <a:r>
              <a:rPr lang="en-US" b="true" sz="5600">
                <a:solidFill>
                  <a:srgbClr val="031CD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1.2. Để</a:t>
            </a:r>
            <a:r>
              <a:rPr lang="en-US" b="true" sz="5600">
                <a:solidFill>
                  <a:srgbClr val="031CD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làm gì?</a:t>
            </a:r>
          </a:p>
          <a:p>
            <a:pPr algn="ctr">
              <a:lnSpc>
                <a:spcPts val="8344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2700000">
            <a:off x="-2665780" y="7443249"/>
            <a:ext cx="9290530" cy="6858100"/>
          </a:xfrm>
          <a:custGeom>
            <a:avLst/>
            <a:gdLst/>
            <a:ahLst/>
            <a:cxnLst/>
            <a:rect r="r" b="b" t="t" l="l"/>
            <a:pathLst>
              <a:path h="6858100" w="9290530">
                <a:moveTo>
                  <a:pt x="9290530" y="0"/>
                </a:moveTo>
                <a:lnTo>
                  <a:pt x="0" y="0"/>
                </a:lnTo>
                <a:lnTo>
                  <a:pt x="0" y="6858100"/>
                </a:lnTo>
                <a:lnTo>
                  <a:pt x="9290530" y="6858100"/>
                </a:lnTo>
                <a:lnTo>
                  <a:pt x="929053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0774" y="2983670"/>
            <a:ext cx="6867348" cy="4475189"/>
          </a:xfrm>
          <a:custGeom>
            <a:avLst/>
            <a:gdLst/>
            <a:ahLst/>
            <a:cxnLst/>
            <a:rect r="r" b="b" t="t" l="l"/>
            <a:pathLst>
              <a:path h="4475189" w="6867348">
                <a:moveTo>
                  <a:pt x="0" y="0"/>
                </a:moveTo>
                <a:lnTo>
                  <a:pt x="6867348" y="0"/>
                </a:lnTo>
                <a:lnTo>
                  <a:pt x="6867348" y="4475189"/>
                </a:lnTo>
                <a:lnTo>
                  <a:pt x="0" y="44751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648" t="0" r="-9648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6716574" y="1044069"/>
          <a:ext cx="11411156" cy="8457089"/>
        </p:xfrm>
        <a:graphic>
          <a:graphicData uri="http://schemas.openxmlformats.org/drawingml/2006/table">
            <a:tbl>
              <a:tblPr/>
              <a:tblGrid>
                <a:gridCol w="3215311"/>
                <a:gridCol w="2777882"/>
                <a:gridCol w="5417962"/>
              </a:tblGrid>
              <a:tr h="10961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Thành viên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Mô tả công việc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Nhiệm vụ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68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Hầu Thị Thanh Huyền</a:t>
                      </a:r>
                      <a:endParaRPr lang="en-US" sz="1100"/>
                    </a:p>
                    <a:p>
                      <a:pPr algn="ctr">
                        <a:lnSpc>
                          <a:spcPts val="2799"/>
                        </a:lnSpc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Dương Thị Ly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Lấy dữ liệu giá vàng trong 5 năm gần nhất phục vụ quá trình phân tích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Thu thập dữ liệu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54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Phạm Khắc Linh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Cấu hình Docker, thiết lập docker-compose cho spark-master, spark-worker và jupyter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 Thiết lập môi trường Docker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68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Hoàng Đức Hội và Nguyễn Tuấn Anh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Dùng Pandas tiền xử lý rồi chuyển sang Spark DataFrame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Xử lý và làm sạch dữ liệu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68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Dương Thị Ly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Vẽ biểu đồ và lưu ảnh cho slide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Trực quan hóa dữ liệu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79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Hứa Thị Thanh Hiền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Tổng hợp kết quả và tạo slide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 Tổng hợp nội dung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68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Đặng Đình Đạt </a:t>
                      </a:r>
                      <a:endParaRPr lang="en-US" sz="1100"/>
                    </a:p>
                    <a:p>
                      <a:pPr algn="ctr">
                        <a:lnSpc>
                          <a:spcPts val="2799"/>
                        </a:lnSpc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(nhóm trưởng)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Thiết kế luồng dữ liệu, phân công và theo dõi tiến độ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Thiết kế và điều phối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411913" y="1158369"/>
            <a:ext cx="6792357" cy="1512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0"/>
              </a:lnSpc>
            </a:pPr>
            <a:r>
              <a:rPr lang="en-US" sz="6000" spc="-282" b="true">
                <a:solidFill>
                  <a:srgbClr val="031CD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1.3. Ai làm gì?</a:t>
            </a:r>
          </a:p>
          <a:p>
            <a:pPr algn="l">
              <a:lnSpc>
                <a:spcPts val="564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53289" y="493643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90348" y="-7726307"/>
            <a:ext cx="13204642" cy="11259959"/>
          </a:xfrm>
          <a:custGeom>
            <a:avLst/>
            <a:gdLst/>
            <a:ahLst/>
            <a:cxnLst/>
            <a:rect r="r" b="b" t="t" l="l"/>
            <a:pathLst>
              <a:path h="11259959" w="13204642">
                <a:moveTo>
                  <a:pt x="0" y="0"/>
                </a:moveTo>
                <a:lnTo>
                  <a:pt x="13204643" y="0"/>
                </a:lnTo>
                <a:lnTo>
                  <a:pt x="13204643" y="11259959"/>
                </a:lnTo>
                <a:lnTo>
                  <a:pt x="0" y="112599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859047" y="-1050942"/>
            <a:ext cx="7288034" cy="11337942"/>
          </a:xfrm>
          <a:custGeom>
            <a:avLst/>
            <a:gdLst/>
            <a:ahLst/>
            <a:cxnLst/>
            <a:rect r="r" b="b" t="t" l="l"/>
            <a:pathLst>
              <a:path h="11337942" w="7288034">
                <a:moveTo>
                  <a:pt x="0" y="0"/>
                </a:moveTo>
                <a:lnTo>
                  <a:pt x="7288034" y="0"/>
                </a:lnTo>
                <a:lnTo>
                  <a:pt x="7288034" y="11337942"/>
                </a:lnTo>
                <a:lnTo>
                  <a:pt x="0" y="113379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50" t="0" r="-12926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595044" y="615740"/>
            <a:ext cx="11434456" cy="2114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5"/>
              </a:lnSpc>
            </a:pPr>
            <a:r>
              <a:rPr lang="en-US" b="true" sz="500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CÁCH LÀM &amp; LÝ DO CHỌN PHƯƠNG PHÁP</a:t>
            </a:r>
          </a:p>
          <a:p>
            <a:pPr algn="ctr" marL="0" indent="0" lvl="0">
              <a:lnSpc>
                <a:spcPts val="5405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50184" y="2606547"/>
            <a:ext cx="9731161" cy="753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</a:pPr>
            <a:r>
              <a:rPr lang="en-US" sz="4999" b="true">
                <a:solidFill>
                  <a:srgbClr val="031CD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2.1.  Sẽ làm thế nào?</a:t>
            </a:r>
          </a:p>
          <a:p>
            <a:pPr algn="just">
              <a:lnSpc>
                <a:spcPts val="4480"/>
              </a:lnSpc>
            </a:pPr>
          </a:p>
          <a:p>
            <a:pPr algn="just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📊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Về Dữ Liệu</a:t>
            </a:r>
          </a:p>
          <a:p>
            <a:pPr algn="just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 thập dữ liệu thô 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(Raw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Data) trong 5 năm gần đây, sau đó làm sạch, loại 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bỏ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các dòng rỗng và 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giá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trị âm.</a:t>
            </a:r>
          </a:p>
          <a:p>
            <a:pPr algn="just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🐳 Về Hạ Tầng</a:t>
            </a:r>
          </a:p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óng gói toàn bộ hệ thống bằng Docker để 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giả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lập cụm máy chủ (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con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tainers)</a:t>
            </a:r>
          </a:p>
          <a:p>
            <a:pPr algn="just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⚡ Về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Xử Lý</a:t>
            </a:r>
          </a:p>
          <a:p>
            <a:pPr algn="just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32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ode chạy trên Jupyter Notebook bằng PySpark</a:t>
            </a:r>
          </a:p>
          <a:p>
            <a:pPr algn="just" marL="0" indent="0" lvl="0">
              <a:lnSpc>
                <a:spcPts val="4480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4030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403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7620" y="1725671"/>
            <a:ext cx="9525855" cy="674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9"/>
              </a:lnSpc>
            </a:pPr>
          </a:p>
          <a:p>
            <a:pPr algn="just">
              <a:lnSpc>
                <a:spcPts val="4479"/>
              </a:lnSpc>
            </a:pPr>
          </a:p>
          <a:p>
            <a:pPr algn="just">
              <a:lnSpc>
                <a:spcPts val="4479"/>
              </a:lnSpc>
            </a:pPr>
            <a:r>
              <a:rPr lang="en-US" sz="3199">
                <a:solidFill>
                  <a:srgbClr val="031C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Tại sao dùng Apache Spark?</a:t>
            </a:r>
          </a:p>
          <a:p>
            <a:pPr algn="just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Spark được chọn vì hỗ trợ </a:t>
            </a:r>
            <a:r>
              <a:rPr lang="en-US" b="true" sz="3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in-memory computing</a:t>
            </a: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(tính toán trong bộ nhớ) </a:t>
            </a: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b="true" sz="3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lazy evaluation</a:t>
            </a: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(đánh giá lười biếng), phù hợp cho phân tích dữ liệu lớn theo thời gian.</a:t>
            </a:r>
          </a:p>
          <a:p>
            <a:pPr algn="just">
              <a:lnSpc>
                <a:spcPts val="4479"/>
              </a:lnSpc>
            </a:pPr>
          </a:p>
          <a:p>
            <a:pPr algn="just">
              <a:lnSpc>
                <a:spcPts val="4479"/>
              </a:lnSpc>
            </a:pPr>
            <a:r>
              <a:rPr lang="en-US" sz="3199">
                <a:solidFill>
                  <a:srgbClr val="031C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Tại sao dùng Docker?</a:t>
            </a:r>
          </a:p>
          <a:p>
            <a:pPr algn="just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được chọn để đ</a:t>
            </a: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ảm bảo tính đồng nhất môi trường và tránh lỗi khác phiên bản giữa các máy thành viên.</a:t>
            </a:r>
          </a:p>
          <a:p>
            <a:pPr algn="just">
              <a:lnSpc>
                <a:spcPts val="4479"/>
              </a:lnSpc>
            </a:pPr>
          </a:p>
          <a:p>
            <a:pPr algn="just">
              <a:lnSpc>
                <a:spcPts val="4479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57620" y="7023273"/>
            <a:ext cx="5237125" cy="5040401"/>
          </a:xfrm>
          <a:custGeom>
            <a:avLst/>
            <a:gdLst/>
            <a:ahLst/>
            <a:cxnLst/>
            <a:rect r="r" b="b" t="t" l="l"/>
            <a:pathLst>
              <a:path h="5040401" w="5237125">
                <a:moveTo>
                  <a:pt x="0" y="0"/>
                </a:moveTo>
                <a:lnTo>
                  <a:pt x="5237125" y="0"/>
                </a:lnTo>
                <a:lnTo>
                  <a:pt x="5237125" y="5040401"/>
                </a:lnTo>
                <a:lnTo>
                  <a:pt x="0" y="50404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589863" y="-2273410"/>
            <a:ext cx="5237125" cy="5040401"/>
          </a:xfrm>
          <a:custGeom>
            <a:avLst/>
            <a:gdLst/>
            <a:ahLst/>
            <a:cxnLst/>
            <a:rect r="r" b="b" t="t" l="l"/>
            <a:pathLst>
              <a:path h="5040401" w="5237125">
                <a:moveTo>
                  <a:pt x="0" y="0"/>
                </a:moveTo>
                <a:lnTo>
                  <a:pt x="5237126" y="0"/>
                </a:lnTo>
                <a:lnTo>
                  <a:pt x="5237126" y="5040401"/>
                </a:lnTo>
                <a:lnTo>
                  <a:pt x="0" y="50404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556056" y="1028700"/>
            <a:ext cx="7731944" cy="8514773"/>
          </a:xfrm>
          <a:custGeom>
            <a:avLst/>
            <a:gdLst/>
            <a:ahLst/>
            <a:cxnLst/>
            <a:rect r="r" b="b" t="t" l="l"/>
            <a:pathLst>
              <a:path h="8514773" w="7731944">
                <a:moveTo>
                  <a:pt x="0" y="0"/>
                </a:moveTo>
                <a:lnTo>
                  <a:pt x="7731944" y="0"/>
                </a:lnTo>
                <a:lnTo>
                  <a:pt x="7731944" y="8514773"/>
                </a:lnTo>
                <a:lnTo>
                  <a:pt x="0" y="85147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062" t="0" r="-5062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53155" y="904875"/>
            <a:ext cx="7865031" cy="906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59"/>
              </a:lnSpc>
              <a:spcBef>
                <a:spcPct val="0"/>
              </a:spcBef>
            </a:pPr>
            <a:r>
              <a:rPr lang="en-US" b="true" sz="5185">
                <a:solidFill>
                  <a:srgbClr val="031CD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2.2</a:t>
            </a:r>
            <a:r>
              <a:rPr lang="en-US" b="true" sz="5185">
                <a:solidFill>
                  <a:srgbClr val="031CD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Tại sao lại làm như vậy?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858124" y="3537015"/>
            <a:ext cx="20061513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290953" y="3356611"/>
            <a:ext cx="359553" cy="35955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23042" y="124802"/>
                  </a:lnTo>
                  <a:lnTo>
                    <a:pt x="693768" y="119032"/>
                  </a:lnTo>
                  <a:lnTo>
                    <a:pt x="687998" y="289758"/>
                  </a:lnTo>
                  <a:lnTo>
                    <a:pt x="812800" y="406400"/>
                  </a:lnTo>
                  <a:lnTo>
                    <a:pt x="687998" y="523042"/>
                  </a:lnTo>
                  <a:lnTo>
                    <a:pt x="693768" y="693768"/>
                  </a:lnTo>
                  <a:lnTo>
                    <a:pt x="523042" y="687998"/>
                  </a:lnTo>
                  <a:lnTo>
                    <a:pt x="406400" y="812800"/>
                  </a:lnTo>
                  <a:lnTo>
                    <a:pt x="289758" y="687998"/>
                  </a:lnTo>
                  <a:lnTo>
                    <a:pt x="119032" y="693768"/>
                  </a:lnTo>
                  <a:lnTo>
                    <a:pt x="124802" y="523042"/>
                  </a:lnTo>
                  <a:lnTo>
                    <a:pt x="0" y="406400"/>
                  </a:lnTo>
                  <a:lnTo>
                    <a:pt x="124802" y="289758"/>
                  </a:lnTo>
                  <a:lnTo>
                    <a:pt x="119032" y="119032"/>
                  </a:lnTo>
                  <a:lnTo>
                    <a:pt x="289758" y="12480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27000" y="146050"/>
              <a:ext cx="558800" cy="539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82898" y="4068589"/>
            <a:ext cx="2197323" cy="70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b="true" sz="5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01.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89188" y="4053167"/>
            <a:ext cx="2197323" cy="70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b="true" sz="5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02.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72437" y="4068589"/>
            <a:ext cx="2197323" cy="70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b="true" sz="5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03.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86010" y="4068903"/>
            <a:ext cx="2197323" cy="70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b="true" sz="5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04.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93283" y="4935642"/>
            <a:ext cx="3063944" cy="599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8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Tạo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môi trường Python, cấu hình Docker Compose với `spark-master`, `spark-worker` và `jupyter`, rồi khởi động cluster.</a:t>
            </a:r>
          </a:p>
          <a:p>
            <a:pPr algn="just">
              <a:lnSpc>
                <a:spcPts val="4768"/>
              </a:lnSpc>
            </a:pPr>
          </a:p>
          <a:p>
            <a:pPr algn="just">
              <a:lnSpc>
                <a:spcPts val="4768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7747777" y="5038725"/>
            <a:ext cx="3239811" cy="3059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2"/>
              </a:lnSpc>
            </a:pPr>
            <a:r>
              <a:rPr lang="en-US" sz="328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Đưa</a:t>
            </a:r>
            <a:r>
              <a:rPr lang="en-US" sz="328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dữ liệu vào Spark DataFrame sau khi đã làm sạch </a:t>
            </a:r>
          </a:p>
          <a:p>
            <a:pPr algn="l">
              <a:lnSpc>
                <a:spcPts val="4892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987589" y="4935642"/>
            <a:ext cx="3278739" cy="419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5"/>
              </a:lnSpc>
            </a:pPr>
            <a:r>
              <a:rPr lang="en-US" sz="319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19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iải quyết 6 bài toán phân tích bằng `groupBy`, `orderBy`, `Window`, `stddev` và `quarter`.</a:t>
            </a:r>
          </a:p>
          <a:p>
            <a:pPr algn="l">
              <a:lnSpc>
                <a:spcPts val="4765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536351" y="4967114"/>
            <a:ext cx="2969703" cy="4797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68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Cào dữ liệu lịch sử giá vàng và tỷ giá USD/VND, sau đó lưu thành `gold_prices_all.csv`.</a:t>
            </a:r>
          </a:p>
          <a:p>
            <a:pPr algn="l">
              <a:lnSpc>
                <a:spcPts val="4768"/>
              </a:lnSpc>
            </a:pPr>
          </a:p>
          <a:p>
            <a:pPr algn="l">
              <a:lnSpc>
                <a:spcPts val="4768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4812612" y="3360238"/>
            <a:ext cx="359553" cy="359553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23042" y="124802"/>
                  </a:lnTo>
                  <a:lnTo>
                    <a:pt x="693768" y="119032"/>
                  </a:lnTo>
                  <a:lnTo>
                    <a:pt x="687998" y="289758"/>
                  </a:lnTo>
                  <a:lnTo>
                    <a:pt x="812800" y="406400"/>
                  </a:lnTo>
                  <a:lnTo>
                    <a:pt x="687998" y="523042"/>
                  </a:lnTo>
                  <a:lnTo>
                    <a:pt x="693768" y="693768"/>
                  </a:lnTo>
                  <a:lnTo>
                    <a:pt x="523042" y="687998"/>
                  </a:lnTo>
                  <a:lnTo>
                    <a:pt x="406400" y="812800"/>
                  </a:lnTo>
                  <a:lnTo>
                    <a:pt x="289758" y="687998"/>
                  </a:lnTo>
                  <a:lnTo>
                    <a:pt x="119032" y="693768"/>
                  </a:lnTo>
                  <a:lnTo>
                    <a:pt x="124802" y="523042"/>
                  </a:lnTo>
                  <a:lnTo>
                    <a:pt x="0" y="406400"/>
                  </a:lnTo>
                  <a:lnTo>
                    <a:pt x="124802" y="289758"/>
                  </a:lnTo>
                  <a:lnTo>
                    <a:pt x="119032" y="119032"/>
                  </a:lnTo>
                  <a:lnTo>
                    <a:pt x="289758" y="12480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27000" y="146050"/>
              <a:ext cx="558800" cy="539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334271" y="3357239"/>
            <a:ext cx="359553" cy="359553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23042" y="124802"/>
                  </a:lnTo>
                  <a:lnTo>
                    <a:pt x="693768" y="119032"/>
                  </a:lnTo>
                  <a:lnTo>
                    <a:pt x="687998" y="289758"/>
                  </a:lnTo>
                  <a:lnTo>
                    <a:pt x="812800" y="406400"/>
                  </a:lnTo>
                  <a:lnTo>
                    <a:pt x="687998" y="523042"/>
                  </a:lnTo>
                  <a:lnTo>
                    <a:pt x="693768" y="693768"/>
                  </a:lnTo>
                  <a:lnTo>
                    <a:pt x="523042" y="687998"/>
                  </a:lnTo>
                  <a:lnTo>
                    <a:pt x="406400" y="812800"/>
                  </a:lnTo>
                  <a:lnTo>
                    <a:pt x="289758" y="687998"/>
                  </a:lnTo>
                  <a:lnTo>
                    <a:pt x="119032" y="693768"/>
                  </a:lnTo>
                  <a:lnTo>
                    <a:pt x="124802" y="523042"/>
                  </a:lnTo>
                  <a:lnTo>
                    <a:pt x="0" y="406400"/>
                  </a:lnTo>
                  <a:lnTo>
                    <a:pt x="124802" y="289758"/>
                  </a:lnTo>
                  <a:lnTo>
                    <a:pt x="119032" y="119032"/>
                  </a:lnTo>
                  <a:lnTo>
                    <a:pt x="289758" y="12480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27000" y="146050"/>
              <a:ext cx="558800" cy="539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704982" y="3357239"/>
            <a:ext cx="359553" cy="359553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23042" y="124802"/>
                  </a:lnTo>
                  <a:lnTo>
                    <a:pt x="693768" y="119032"/>
                  </a:lnTo>
                  <a:lnTo>
                    <a:pt x="687998" y="289758"/>
                  </a:lnTo>
                  <a:lnTo>
                    <a:pt x="812800" y="406400"/>
                  </a:lnTo>
                  <a:lnTo>
                    <a:pt x="687998" y="523042"/>
                  </a:lnTo>
                  <a:lnTo>
                    <a:pt x="693768" y="693768"/>
                  </a:lnTo>
                  <a:lnTo>
                    <a:pt x="523042" y="687998"/>
                  </a:lnTo>
                  <a:lnTo>
                    <a:pt x="406400" y="812800"/>
                  </a:lnTo>
                  <a:lnTo>
                    <a:pt x="289758" y="687998"/>
                  </a:lnTo>
                  <a:lnTo>
                    <a:pt x="119032" y="693768"/>
                  </a:lnTo>
                  <a:lnTo>
                    <a:pt x="124802" y="523042"/>
                  </a:lnTo>
                  <a:lnTo>
                    <a:pt x="0" y="406400"/>
                  </a:lnTo>
                  <a:lnTo>
                    <a:pt x="124802" y="289758"/>
                  </a:lnTo>
                  <a:lnTo>
                    <a:pt x="119032" y="119032"/>
                  </a:lnTo>
                  <a:lnTo>
                    <a:pt x="289758" y="12480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27000" y="146050"/>
              <a:ext cx="558800" cy="539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-397327" y="746941"/>
            <a:ext cx="13898739" cy="275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</a:pPr>
            <a:r>
              <a:rPr lang="en-US" b="true" sz="4999" spc="-294">
                <a:solidFill>
                  <a:srgbClr val="031CD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CÁC BƯỚC CHÍNH THỰC HIỆN DỰ ÁN</a:t>
            </a:r>
          </a:p>
          <a:p>
            <a:pPr algn="ctr">
              <a:lnSpc>
                <a:spcPts val="5399"/>
              </a:lnSpc>
            </a:pPr>
          </a:p>
          <a:p>
            <a:pPr algn="ctr">
              <a:lnSpc>
                <a:spcPts val="5399"/>
              </a:lnSpc>
            </a:pPr>
          </a:p>
          <a:p>
            <a:pPr algn="ctr" marL="0" indent="0" lvl="0">
              <a:lnSpc>
                <a:spcPts val="5399"/>
              </a:lnSpc>
              <a:spcBef>
                <a:spcPct val="0"/>
              </a:spcBef>
            </a:pP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-3491362" y="6350491"/>
            <a:ext cx="11866415" cy="10118816"/>
          </a:xfrm>
          <a:custGeom>
            <a:avLst/>
            <a:gdLst/>
            <a:ahLst/>
            <a:cxnLst/>
            <a:rect r="r" b="b" t="t" l="l"/>
            <a:pathLst>
              <a:path h="10118816" w="11866415">
                <a:moveTo>
                  <a:pt x="0" y="0"/>
                </a:moveTo>
                <a:lnTo>
                  <a:pt x="11866415" y="0"/>
                </a:lnTo>
                <a:lnTo>
                  <a:pt x="11866415" y="10118816"/>
                </a:lnTo>
                <a:lnTo>
                  <a:pt x="0" y="101188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3548385" y="-8960518"/>
            <a:ext cx="14445131" cy="12317757"/>
          </a:xfrm>
          <a:custGeom>
            <a:avLst/>
            <a:gdLst/>
            <a:ahLst/>
            <a:cxnLst/>
            <a:rect r="r" b="b" t="t" l="l"/>
            <a:pathLst>
              <a:path h="12317757" w="14445131">
                <a:moveTo>
                  <a:pt x="0" y="0"/>
                </a:moveTo>
                <a:lnTo>
                  <a:pt x="14445131" y="0"/>
                </a:lnTo>
                <a:lnTo>
                  <a:pt x="14445131" y="12317757"/>
                </a:lnTo>
                <a:lnTo>
                  <a:pt x="0" y="123177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5393295" y="3357239"/>
            <a:ext cx="359553" cy="359553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23042" y="124802"/>
                  </a:lnTo>
                  <a:lnTo>
                    <a:pt x="693768" y="119032"/>
                  </a:lnTo>
                  <a:lnTo>
                    <a:pt x="687998" y="289758"/>
                  </a:lnTo>
                  <a:lnTo>
                    <a:pt x="812800" y="406400"/>
                  </a:lnTo>
                  <a:lnTo>
                    <a:pt x="687998" y="523042"/>
                  </a:lnTo>
                  <a:lnTo>
                    <a:pt x="693768" y="693768"/>
                  </a:lnTo>
                  <a:lnTo>
                    <a:pt x="523042" y="687998"/>
                  </a:lnTo>
                  <a:lnTo>
                    <a:pt x="406400" y="812800"/>
                  </a:lnTo>
                  <a:lnTo>
                    <a:pt x="289758" y="687998"/>
                  </a:lnTo>
                  <a:lnTo>
                    <a:pt x="119032" y="693768"/>
                  </a:lnTo>
                  <a:lnTo>
                    <a:pt x="124802" y="523042"/>
                  </a:lnTo>
                  <a:lnTo>
                    <a:pt x="0" y="406400"/>
                  </a:lnTo>
                  <a:lnTo>
                    <a:pt x="124802" y="289758"/>
                  </a:lnTo>
                  <a:lnTo>
                    <a:pt x="119032" y="119032"/>
                  </a:lnTo>
                  <a:lnTo>
                    <a:pt x="289758" y="12480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27000" y="146050"/>
              <a:ext cx="558800" cy="539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5393295" y="4068589"/>
            <a:ext cx="2197323" cy="70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b="true" sz="5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05.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671064" y="5078517"/>
            <a:ext cx="3113785" cy="2497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96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Xuất kết quả ra biểu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đồ và tổng hợp thành báo cáo thuyết trình.</a:t>
            </a:r>
          </a:p>
          <a:p>
            <a:pPr algn="l">
              <a:lnSpc>
                <a:spcPts val="3296"/>
              </a:lnSpc>
            </a:pPr>
          </a:p>
          <a:p>
            <a:pPr algn="l">
              <a:lnSpc>
                <a:spcPts val="3296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96868" y="1464108"/>
            <a:ext cx="1269964" cy="1381973"/>
          </a:xfrm>
          <a:custGeom>
            <a:avLst/>
            <a:gdLst/>
            <a:ahLst/>
            <a:cxnLst/>
            <a:rect r="r" b="b" t="t" l="l"/>
            <a:pathLst>
              <a:path h="1381973" w="1269964">
                <a:moveTo>
                  <a:pt x="0" y="0"/>
                </a:moveTo>
                <a:lnTo>
                  <a:pt x="1269964" y="0"/>
                </a:lnTo>
                <a:lnTo>
                  <a:pt x="1269964" y="1381973"/>
                </a:lnTo>
                <a:lnTo>
                  <a:pt x="0" y="13819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1095978" y="1216318"/>
            <a:ext cx="0" cy="187755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1095978" y="4210286"/>
            <a:ext cx="0" cy="187755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1095978" y="7173642"/>
            <a:ext cx="0" cy="187755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583870" y="7482837"/>
            <a:ext cx="1182963" cy="1182963"/>
          </a:xfrm>
          <a:custGeom>
            <a:avLst/>
            <a:gdLst/>
            <a:ahLst/>
            <a:cxnLst/>
            <a:rect r="r" b="b" t="t" l="l"/>
            <a:pathLst>
              <a:path h="1182963" w="1182963">
                <a:moveTo>
                  <a:pt x="0" y="0"/>
                </a:moveTo>
                <a:lnTo>
                  <a:pt x="1182962" y="0"/>
                </a:lnTo>
                <a:lnTo>
                  <a:pt x="1182962" y="1182962"/>
                </a:lnTo>
                <a:lnTo>
                  <a:pt x="0" y="11829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548455" y="8970599"/>
            <a:ext cx="13726290" cy="3618749"/>
          </a:xfrm>
          <a:custGeom>
            <a:avLst/>
            <a:gdLst/>
            <a:ahLst/>
            <a:cxnLst/>
            <a:rect r="r" b="b" t="t" l="l"/>
            <a:pathLst>
              <a:path h="3618749" w="13726290">
                <a:moveTo>
                  <a:pt x="0" y="0"/>
                </a:moveTo>
                <a:lnTo>
                  <a:pt x="13726290" y="0"/>
                </a:lnTo>
                <a:lnTo>
                  <a:pt x="13726290" y="3618749"/>
                </a:lnTo>
                <a:lnTo>
                  <a:pt x="0" y="36187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583870" y="-224687"/>
            <a:ext cx="12552396" cy="10287000"/>
          </a:xfrm>
          <a:custGeom>
            <a:avLst/>
            <a:gdLst/>
            <a:ahLst/>
            <a:cxnLst/>
            <a:rect r="r" b="b" t="t" l="l"/>
            <a:pathLst>
              <a:path h="10287000" w="12552396">
                <a:moveTo>
                  <a:pt x="0" y="0"/>
                </a:moveTo>
                <a:lnTo>
                  <a:pt x="12552396" y="0"/>
                </a:lnTo>
                <a:lnTo>
                  <a:pt x="125523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97000"/>
            </a:blip>
            <a:stretch>
              <a:fillRect l="-18409" t="0" r="-14763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-4727242" y="2045619"/>
            <a:ext cx="13900260" cy="1696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91"/>
              </a:lnSpc>
            </a:pPr>
            <a:r>
              <a:rPr lang="en-US" b="true" sz="6455" spc="-342">
                <a:solidFill>
                  <a:srgbClr val="031CD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 1 kết quả</a:t>
            </a:r>
          </a:p>
          <a:p>
            <a:pPr algn="ctr" marL="0" indent="0" lvl="0">
              <a:lnSpc>
                <a:spcPts val="6391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82277" y="3509575"/>
            <a:ext cx="8661723" cy="4196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8"/>
              </a:lnSpc>
            </a:pPr>
            <a:r>
              <a:rPr lang="en-US" sz="3200" b="true">
                <a:solidFill>
                  <a:srgbClr val="031CD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4.1. Kết quả kỹ thuật</a:t>
            </a:r>
          </a:p>
          <a:p>
            <a:pPr algn="l">
              <a:lnSpc>
                <a:spcPts val="4768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Nhóm đã xây dựng một data pipeline hoàn chỉnh từ thu thập đến phân tích trực quan, và PySpark xử lý tốt các phép tính phức tạp theo thời gian.</a:t>
            </a:r>
          </a:p>
          <a:p>
            <a:pPr algn="l">
              <a:lnSpc>
                <a:spcPts val="4768"/>
              </a:lnSpc>
              <a:spcBef>
                <a:spcPct val="0"/>
              </a:spcBef>
            </a:pPr>
          </a:p>
          <a:p>
            <a:pPr algn="l">
              <a:lnSpc>
                <a:spcPts val="4768"/>
              </a:lnSpc>
              <a:spcBef>
                <a:spcPct val="0"/>
              </a:spcBef>
            </a:pPr>
          </a:p>
          <a:p>
            <a:pPr algn="l">
              <a:lnSpc>
                <a:spcPts val="476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51577" y="-8886502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121004" y="4380344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57731" y="1550947"/>
            <a:ext cx="18745731" cy="7707353"/>
          </a:xfrm>
          <a:custGeom>
            <a:avLst/>
            <a:gdLst/>
            <a:ahLst/>
            <a:cxnLst/>
            <a:rect r="r" b="b" t="t" l="l"/>
            <a:pathLst>
              <a:path h="7707353" w="18745731">
                <a:moveTo>
                  <a:pt x="0" y="0"/>
                </a:moveTo>
                <a:lnTo>
                  <a:pt x="18745731" y="0"/>
                </a:lnTo>
                <a:lnTo>
                  <a:pt x="18745731" y="7707353"/>
                </a:lnTo>
                <a:lnTo>
                  <a:pt x="0" y="77073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988" r="0" b="-198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4573" y="141247"/>
            <a:ext cx="17200951" cy="187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50"/>
              </a:lnSpc>
              <a:spcBef>
                <a:spcPct val="0"/>
              </a:spcBef>
            </a:pPr>
            <a:r>
              <a:rPr lang="en-US" b="true" sz="5000">
                <a:solidFill>
                  <a:srgbClr val="031CD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Câu hỏ</a:t>
            </a:r>
            <a:r>
              <a:rPr lang="en-US" b="true" sz="5000">
                <a:solidFill>
                  <a:srgbClr val="031CD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 1: Tháng nào có giá trung bình cao nhất / thấp nhất?</a:t>
            </a:r>
          </a:p>
          <a:p>
            <a:pPr algn="ctr">
              <a:lnSpc>
                <a:spcPts val="745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75201" y="468873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7439" y="3937225"/>
            <a:ext cx="17433774" cy="4968626"/>
          </a:xfrm>
          <a:custGeom>
            <a:avLst/>
            <a:gdLst/>
            <a:ahLst/>
            <a:cxnLst/>
            <a:rect r="r" b="b" t="t" l="l"/>
            <a:pathLst>
              <a:path h="4968626" w="17433774">
                <a:moveTo>
                  <a:pt x="0" y="0"/>
                </a:moveTo>
                <a:lnTo>
                  <a:pt x="17433774" y="0"/>
                </a:lnTo>
                <a:lnTo>
                  <a:pt x="17433774" y="4968625"/>
                </a:lnTo>
                <a:lnTo>
                  <a:pt x="0" y="4968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70983" y="303294"/>
            <a:ext cx="16900230" cy="187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50"/>
              </a:lnSpc>
              <a:spcBef>
                <a:spcPct val="0"/>
              </a:spcBef>
            </a:pPr>
            <a:r>
              <a:rPr lang="en-US" b="true" sz="5000">
                <a:solidFill>
                  <a:srgbClr val="031CD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Câu hỏ</a:t>
            </a:r>
            <a:r>
              <a:rPr lang="en-US" b="true" sz="5000">
                <a:solidFill>
                  <a:srgbClr val="031CD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 2: Top 3 ngày có giá vàng cao nhất và thấp nhất?</a:t>
            </a:r>
          </a:p>
          <a:p>
            <a:pPr algn="ctr">
              <a:lnSpc>
                <a:spcPts val="745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655000"/>
            <a:ext cx="16230600" cy="7364635"/>
          </a:xfrm>
          <a:custGeom>
            <a:avLst/>
            <a:gdLst/>
            <a:ahLst/>
            <a:cxnLst/>
            <a:rect r="r" b="b" t="t" l="l"/>
            <a:pathLst>
              <a:path h="7364635" w="16230600">
                <a:moveTo>
                  <a:pt x="0" y="0"/>
                </a:moveTo>
                <a:lnTo>
                  <a:pt x="16230600" y="0"/>
                </a:lnTo>
                <a:lnTo>
                  <a:pt x="16230600" y="7364635"/>
                </a:lnTo>
                <a:lnTo>
                  <a:pt x="0" y="73646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64892" y="101748"/>
            <a:ext cx="15159486" cy="1109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28"/>
              </a:lnSpc>
              <a:spcBef>
                <a:spcPct val="0"/>
              </a:spcBef>
            </a:pPr>
            <a:r>
              <a:rPr lang="en-US" b="true" sz="5992">
                <a:solidFill>
                  <a:srgbClr val="031CD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Câu hỏi 3: Năm nào giá vàng tăng mạnh nhất?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68051" y="1716433"/>
            <a:ext cx="13952434" cy="6854133"/>
          </a:xfrm>
          <a:custGeom>
            <a:avLst/>
            <a:gdLst/>
            <a:ahLst/>
            <a:cxnLst/>
            <a:rect r="r" b="b" t="t" l="l"/>
            <a:pathLst>
              <a:path h="6854133" w="13952434">
                <a:moveTo>
                  <a:pt x="0" y="0"/>
                </a:moveTo>
                <a:lnTo>
                  <a:pt x="13952434" y="0"/>
                </a:lnTo>
                <a:lnTo>
                  <a:pt x="13952434" y="6854134"/>
                </a:lnTo>
                <a:lnTo>
                  <a:pt x="0" y="68541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07006" y="376374"/>
            <a:ext cx="14684455" cy="187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50"/>
              </a:lnSpc>
              <a:spcBef>
                <a:spcPct val="0"/>
              </a:spcBef>
            </a:pPr>
            <a:r>
              <a:rPr lang="en-US" b="true" sz="5000">
                <a:solidFill>
                  <a:srgbClr val="031CD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Câu hỏi 4: Tháng nào có giá trị biến động mạnh nhất?</a:t>
            </a:r>
          </a:p>
          <a:p>
            <a:pPr algn="ctr">
              <a:lnSpc>
                <a:spcPts val="7450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1390993" y="8278874"/>
            <a:ext cx="5237125" cy="5040401"/>
          </a:xfrm>
          <a:custGeom>
            <a:avLst/>
            <a:gdLst/>
            <a:ahLst/>
            <a:cxnLst/>
            <a:rect r="r" b="b" t="t" l="l"/>
            <a:pathLst>
              <a:path h="5040401" w="5237125">
                <a:moveTo>
                  <a:pt x="0" y="0"/>
                </a:moveTo>
                <a:lnTo>
                  <a:pt x="5237126" y="0"/>
                </a:lnTo>
                <a:lnTo>
                  <a:pt x="5237126" y="5040401"/>
                </a:lnTo>
                <a:lnTo>
                  <a:pt x="0" y="50404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35867" y="-2342019"/>
            <a:ext cx="5237125" cy="5040401"/>
          </a:xfrm>
          <a:custGeom>
            <a:avLst/>
            <a:gdLst/>
            <a:ahLst/>
            <a:cxnLst/>
            <a:rect r="r" b="b" t="t" l="l"/>
            <a:pathLst>
              <a:path h="5040401" w="5237125">
                <a:moveTo>
                  <a:pt x="0" y="0"/>
                </a:moveTo>
                <a:lnTo>
                  <a:pt x="5237126" y="0"/>
                </a:lnTo>
                <a:lnTo>
                  <a:pt x="5237126" y="5040401"/>
                </a:lnTo>
                <a:lnTo>
                  <a:pt x="0" y="50404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81514" y="1947091"/>
            <a:ext cx="13415062" cy="7311209"/>
          </a:xfrm>
          <a:custGeom>
            <a:avLst/>
            <a:gdLst/>
            <a:ahLst/>
            <a:cxnLst/>
            <a:rect r="r" b="b" t="t" l="l"/>
            <a:pathLst>
              <a:path h="7311209" w="13415062">
                <a:moveTo>
                  <a:pt x="0" y="0"/>
                </a:moveTo>
                <a:lnTo>
                  <a:pt x="13415062" y="0"/>
                </a:lnTo>
                <a:lnTo>
                  <a:pt x="13415062" y="7311209"/>
                </a:lnTo>
                <a:lnTo>
                  <a:pt x="0" y="73112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20963" y="98425"/>
            <a:ext cx="12646075" cy="93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50"/>
              </a:lnSpc>
              <a:spcBef>
                <a:spcPct val="0"/>
              </a:spcBef>
            </a:pPr>
            <a:r>
              <a:rPr lang="en-US" b="true" sz="5000">
                <a:solidFill>
                  <a:srgbClr val="031CD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 Câu hỏi 5: Xu hướng giá theo quý trong năm?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8285747" y="4776850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8"/>
                </a:lnTo>
                <a:lnTo>
                  <a:pt x="0" y="13575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515713" y="-6517744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827424" y="-727702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275201" y="468873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44316" y="2665001"/>
            <a:ext cx="17019843" cy="6866306"/>
          </a:xfrm>
          <a:custGeom>
            <a:avLst/>
            <a:gdLst/>
            <a:ahLst/>
            <a:cxnLst/>
            <a:rect r="r" b="b" t="t" l="l"/>
            <a:pathLst>
              <a:path h="6866306" w="17019843">
                <a:moveTo>
                  <a:pt x="0" y="0"/>
                </a:moveTo>
                <a:lnTo>
                  <a:pt x="17019844" y="0"/>
                </a:lnTo>
                <a:lnTo>
                  <a:pt x="17019844" y="6866306"/>
                </a:lnTo>
                <a:lnTo>
                  <a:pt x="0" y="6866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611" t="0" r="-3611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59098" y="266233"/>
            <a:ext cx="13929242" cy="187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50"/>
              </a:lnSpc>
              <a:spcBef>
                <a:spcPct val="0"/>
              </a:spcBef>
            </a:pPr>
            <a:r>
              <a:rPr lang="en-US" b="true" sz="5000">
                <a:solidFill>
                  <a:srgbClr val="031CD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 Câu hỏi 6: Mức tăng tích lũy toàn kỳ là bao nhiêu?</a:t>
            </a:r>
          </a:p>
          <a:p>
            <a:pPr algn="ctr">
              <a:lnSpc>
                <a:spcPts val="745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96868" y="1464108"/>
            <a:ext cx="1269964" cy="1381973"/>
          </a:xfrm>
          <a:custGeom>
            <a:avLst/>
            <a:gdLst/>
            <a:ahLst/>
            <a:cxnLst/>
            <a:rect r="r" b="b" t="t" l="l"/>
            <a:pathLst>
              <a:path h="1381973" w="1269964">
                <a:moveTo>
                  <a:pt x="0" y="0"/>
                </a:moveTo>
                <a:lnTo>
                  <a:pt x="1269964" y="0"/>
                </a:lnTo>
                <a:lnTo>
                  <a:pt x="1269964" y="1381973"/>
                </a:lnTo>
                <a:lnTo>
                  <a:pt x="0" y="13819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1095978" y="1216318"/>
            <a:ext cx="0" cy="187755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1095978" y="4210286"/>
            <a:ext cx="0" cy="187755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1095978" y="7173642"/>
            <a:ext cx="0" cy="187755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583870" y="7482837"/>
            <a:ext cx="1182963" cy="1182963"/>
          </a:xfrm>
          <a:custGeom>
            <a:avLst/>
            <a:gdLst/>
            <a:ahLst/>
            <a:cxnLst/>
            <a:rect r="r" b="b" t="t" l="l"/>
            <a:pathLst>
              <a:path h="1182963" w="1182963">
                <a:moveTo>
                  <a:pt x="0" y="0"/>
                </a:moveTo>
                <a:lnTo>
                  <a:pt x="1182962" y="0"/>
                </a:lnTo>
                <a:lnTo>
                  <a:pt x="1182962" y="1182962"/>
                </a:lnTo>
                <a:lnTo>
                  <a:pt x="0" y="11829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548455" y="8970599"/>
            <a:ext cx="13726290" cy="3618749"/>
          </a:xfrm>
          <a:custGeom>
            <a:avLst/>
            <a:gdLst/>
            <a:ahLst/>
            <a:cxnLst/>
            <a:rect r="r" b="b" t="t" l="l"/>
            <a:pathLst>
              <a:path h="3618749" w="13726290">
                <a:moveTo>
                  <a:pt x="0" y="0"/>
                </a:moveTo>
                <a:lnTo>
                  <a:pt x="13726290" y="0"/>
                </a:lnTo>
                <a:lnTo>
                  <a:pt x="13726290" y="3618749"/>
                </a:lnTo>
                <a:lnTo>
                  <a:pt x="0" y="36187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583870" y="-224687"/>
            <a:ext cx="12552396" cy="10287000"/>
          </a:xfrm>
          <a:custGeom>
            <a:avLst/>
            <a:gdLst/>
            <a:ahLst/>
            <a:cxnLst/>
            <a:rect r="r" b="b" t="t" l="l"/>
            <a:pathLst>
              <a:path h="10287000" w="12552396">
                <a:moveTo>
                  <a:pt x="0" y="0"/>
                </a:moveTo>
                <a:lnTo>
                  <a:pt x="12552396" y="0"/>
                </a:lnTo>
                <a:lnTo>
                  <a:pt x="125523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97000"/>
            </a:blip>
            <a:stretch>
              <a:fillRect l="-18409" t="0" r="-14763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-4403392" y="1311568"/>
            <a:ext cx="13900260" cy="1700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91"/>
              </a:lnSpc>
            </a:pPr>
            <a:r>
              <a:rPr lang="en-US" b="true" sz="6455" spc="-342">
                <a:solidFill>
                  <a:srgbClr val="031CD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 2 Nhận xét</a:t>
            </a:r>
          </a:p>
          <a:p>
            <a:pPr algn="ctr" marL="0" indent="0" lvl="0">
              <a:lnSpc>
                <a:spcPts val="6391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511295" y="2270084"/>
            <a:ext cx="8661723" cy="5397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8"/>
              </a:lnSpc>
              <a:spcBef>
                <a:spcPct val="0"/>
              </a:spcBef>
            </a:pPr>
          </a:p>
          <a:p>
            <a:pPr algn="l">
              <a:lnSpc>
                <a:spcPts val="4768"/>
              </a:lnSpc>
              <a:spcBef>
                <a:spcPct val="0"/>
              </a:spcBef>
            </a:pPr>
            <a:r>
              <a:rPr lang="en-US" b="true" sz="3200">
                <a:solidFill>
                  <a:srgbClr val="031CD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Nhận xét về mặt dữ liệu</a:t>
            </a:r>
          </a:p>
          <a:p>
            <a:pPr algn="l">
              <a:lnSpc>
                <a:spcPts val="4768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Giá vàng có tính mùa vụ, thường biến động mạnh ở Quý 1 do nhu cầu tích trữ và các mốc tâm lý của thị trường.</a:t>
            </a:r>
          </a:p>
          <a:p>
            <a:pPr algn="l">
              <a:lnSpc>
                <a:spcPts val="4768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 dài hạn, giá vàng vẫn có xu hướng tăng tích lũy, phù hợp với vai trò tài sản trú ẩn an toàn.</a:t>
            </a:r>
          </a:p>
          <a:p>
            <a:pPr algn="l">
              <a:lnSpc>
                <a:spcPts val="4768"/>
              </a:lnSpc>
              <a:spcBef>
                <a:spcPct val="0"/>
              </a:spcBef>
            </a:pPr>
          </a:p>
          <a:p>
            <a:pPr algn="l">
              <a:lnSpc>
                <a:spcPts val="476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13653" y="0"/>
            <a:ext cx="8339297" cy="9684011"/>
          </a:xfrm>
          <a:custGeom>
            <a:avLst/>
            <a:gdLst/>
            <a:ahLst/>
            <a:cxnLst/>
            <a:rect r="r" b="b" t="t" l="l"/>
            <a:pathLst>
              <a:path h="9684011" w="8339297">
                <a:moveTo>
                  <a:pt x="0" y="0"/>
                </a:moveTo>
                <a:lnTo>
                  <a:pt x="8339297" y="0"/>
                </a:lnTo>
                <a:lnTo>
                  <a:pt x="8339297" y="9684011"/>
                </a:lnTo>
                <a:lnTo>
                  <a:pt x="0" y="96840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837" t="0" r="-8074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22150" y="759346"/>
            <a:ext cx="11881478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5000" b="true">
                <a:solidFill>
                  <a:srgbClr val="031CD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5. Các vấn đề &amp; Đề xuất cải tiến</a:t>
            </a:r>
          </a:p>
          <a:p>
            <a:pPr algn="l">
              <a:lnSpc>
                <a:spcPts val="495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7162712" y="2313350"/>
            <a:ext cx="9571495" cy="6597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68"/>
              </a:lnSpc>
              <a:spcBef>
                <a:spcPct val="0"/>
              </a:spcBef>
            </a:pPr>
            <a:r>
              <a:rPr lang="en-US" b="true" sz="3200">
                <a:solidFill>
                  <a:srgbClr val="031CD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5.1. Vấn đề gặp phải trong quá trình làm</a:t>
            </a:r>
          </a:p>
          <a:p>
            <a:pPr algn="just">
              <a:lnSpc>
                <a:spcPts val="4768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Một số file CSV mount từ Windows không được Worker Linux nhận đúng; nhóm khắc phục bằng cách đọc dữ liệu bằng Pandas tại Driver rồi chuyển sang Spark DataFrame</a:t>
            </a:r>
            <a:r>
              <a:rPr lang="en-US" sz="3200">
                <a:solidFill>
                  <a:srgbClr val="031C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just">
              <a:lnSpc>
                <a:spcPts val="4768"/>
              </a:lnSpc>
              <a:spcBef>
                <a:spcPct val="0"/>
              </a:spcBef>
            </a:pPr>
            <a:r>
              <a:rPr lang="en-US" b="true" sz="3200">
                <a:solidFill>
                  <a:srgbClr val="031CD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5.2. Đề xuất cải tiến cho tương lai</a:t>
            </a:r>
          </a:p>
          <a:p>
            <a:pPr algn="just" marL="690881" indent="-345440" lvl="1">
              <a:lnSpc>
                <a:spcPts val="4768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thể mở rộng sang dữ liệu thời gian thực bằng Spark Streaming và Apache Kafka.</a:t>
            </a:r>
          </a:p>
          <a:p>
            <a:pPr algn="just" marL="690881" indent="-345440" lvl="1">
              <a:lnSpc>
                <a:spcPts val="4768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thể dùng Spark MLlib để dự báo giá vàng trong tương lai.</a:t>
            </a:r>
          </a:p>
          <a:p>
            <a:pPr algn="just" marL="690881" indent="-345440" lvl="1">
              <a:lnSpc>
                <a:spcPts val="4768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thể triển khai lên Google Dataproc hoặc AWS EMR để chạy với dữ liệu quy mô lớn hơn.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8500" y="3124200"/>
            <a:ext cx="5245100" cy="1332778"/>
            <a:chOff x="0" y="0"/>
            <a:chExt cx="1381426" cy="3510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81426" cy="351020"/>
            </a:xfrm>
            <a:custGeom>
              <a:avLst/>
              <a:gdLst/>
              <a:ahLst/>
              <a:cxnLst/>
              <a:rect r="r" b="b" t="t" l="l"/>
              <a:pathLst>
                <a:path h="351020" w="1381426">
                  <a:moveTo>
                    <a:pt x="75277" y="0"/>
                  </a:moveTo>
                  <a:lnTo>
                    <a:pt x="1306148" y="0"/>
                  </a:lnTo>
                  <a:cubicBezTo>
                    <a:pt x="1326113" y="0"/>
                    <a:pt x="1345260" y="7931"/>
                    <a:pt x="1359377" y="22048"/>
                  </a:cubicBezTo>
                  <a:cubicBezTo>
                    <a:pt x="1373495" y="36166"/>
                    <a:pt x="1381426" y="55313"/>
                    <a:pt x="1381426" y="75277"/>
                  </a:cubicBezTo>
                  <a:lnTo>
                    <a:pt x="1381426" y="275742"/>
                  </a:lnTo>
                  <a:cubicBezTo>
                    <a:pt x="1381426" y="295707"/>
                    <a:pt x="1373495" y="314854"/>
                    <a:pt x="1359377" y="328971"/>
                  </a:cubicBezTo>
                  <a:cubicBezTo>
                    <a:pt x="1345260" y="343089"/>
                    <a:pt x="1326113" y="351020"/>
                    <a:pt x="1306148" y="351020"/>
                  </a:cubicBezTo>
                  <a:lnTo>
                    <a:pt x="75277" y="351020"/>
                  </a:lnTo>
                  <a:cubicBezTo>
                    <a:pt x="55313" y="351020"/>
                    <a:pt x="36166" y="343089"/>
                    <a:pt x="22048" y="328971"/>
                  </a:cubicBezTo>
                  <a:cubicBezTo>
                    <a:pt x="7931" y="314854"/>
                    <a:pt x="0" y="295707"/>
                    <a:pt x="0" y="275742"/>
                  </a:cubicBezTo>
                  <a:lnTo>
                    <a:pt x="0" y="75277"/>
                  </a:lnTo>
                  <a:cubicBezTo>
                    <a:pt x="0" y="55313"/>
                    <a:pt x="7931" y="36166"/>
                    <a:pt x="22048" y="22048"/>
                  </a:cubicBezTo>
                  <a:cubicBezTo>
                    <a:pt x="36166" y="7931"/>
                    <a:pt x="55313" y="0"/>
                    <a:pt x="7527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381426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741400" y="3124200"/>
            <a:ext cx="5118100" cy="1332778"/>
            <a:chOff x="0" y="0"/>
            <a:chExt cx="1347977" cy="3510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47977" cy="351020"/>
            </a:xfrm>
            <a:custGeom>
              <a:avLst/>
              <a:gdLst/>
              <a:ahLst/>
              <a:cxnLst/>
              <a:rect r="r" b="b" t="t" l="l"/>
              <a:pathLst>
                <a:path h="351020" w="1347977">
                  <a:moveTo>
                    <a:pt x="77145" y="0"/>
                  </a:moveTo>
                  <a:lnTo>
                    <a:pt x="1270832" y="0"/>
                  </a:lnTo>
                  <a:cubicBezTo>
                    <a:pt x="1291292" y="0"/>
                    <a:pt x="1310914" y="8128"/>
                    <a:pt x="1325382" y="22595"/>
                  </a:cubicBezTo>
                  <a:cubicBezTo>
                    <a:pt x="1339849" y="37063"/>
                    <a:pt x="1347977" y="56685"/>
                    <a:pt x="1347977" y="77145"/>
                  </a:cubicBezTo>
                  <a:lnTo>
                    <a:pt x="1347977" y="273874"/>
                  </a:lnTo>
                  <a:cubicBezTo>
                    <a:pt x="1347977" y="316480"/>
                    <a:pt x="1313438" y="351020"/>
                    <a:pt x="1270832" y="351020"/>
                  </a:cubicBezTo>
                  <a:lnTo>
                    <a:pt x="77145" y="351020"/>
                  </a:lnTo>
                  <a:cubicBezTo>
                    <a:pt x="34539" y="351020"/>
                    <a:pt x="0" y="316480"/>
                    <a:pt x="0" y="273874"/>
                  </a:cubicBezTo>
                  <a:lnTo>
                    <a:pt x="0" y="77145"/>
                  </a:lnTo>
                  <a:cubicBezTo>
                    <a:pt x="0" y="34539"/>
                    <a:pt x="34539" y="0"/>
                    <a:pt x="7714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347977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933297" y="3191597"/>
            <a:ext cx="8421405" cy="1265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34"/>
              </a:lnSpc>
            </a:pPr>
            <a:r>
              <a:rPr lang="en-US" b="true" sz="738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DAHJD6UTypE</dc:identifier>
  <dcterms:modified xsi:type="dcterms:W3CDTF">2011-08-01T06:04:30Z</dcterms:modified>
  <cp:revision>1</cp:revision>
  <dc:title>Portflıo</dc:title>
</cp:coreProperties>
</file>